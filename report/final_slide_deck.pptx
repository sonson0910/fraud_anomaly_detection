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Arial"/>
              </a:rPr>
              <a:t>Fraud &amp; Anomaly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5156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2606D"/>
                </a:solidFill>
                <a:latin typeface="Arial"/>
              </a:rPr>
              <a:t>Cause-first framework using real data, no synthetic labels.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Arial"/>
              </a:rPr>
              <a:t>Cause-First Hypothesis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5156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2606D"/>
                </a:solidFill>
                <a:latin typeface="Arial"/>
              </a:rPr>
              <a:t>Three root-cause branches before modeling.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69848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>
                <a:latin typeface="Arial"/>
              </a:defRPr>
            </a:pPr>
            <a:r>
              <a:t>Account takeover / identity compromise</a:t>
            </a:r>
          </a:p>
          <a:p>
            <a:pPr>
              <a:defRPr sz="2100">
                <a:latin typeface="Arial"/>
              </a:defRPr>
            </a:pPr>
            <a:r>
              <a:t>Unauthorized transfer / capital outflow</a:t>
            </a:r>
          </a:p>
          <a:p>
            <a:pPr>
              <a:defRPr sz="2100">
                <a:latin typeface="Arial"/>
              </a:defRPr>
            </a:pPr>
            <a:r>
              <a:t>AML network / mule-account pattern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Arial"/>
              </a:rPr>
              <a:t>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5156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2606D"/>
                </a:solidFill>
                <a:latin typeface="Arial"/>
              </a:rPr>
              <a:t>Data -&gt; baseline -&gt; rules -&gt; Isolation Forest -&gt; SHAP/xAI -&gt; review queue.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69848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>
                <a:latin typeface="Arial"/>
              </a:defRPr>
            </a:pPr>
            <a:r>
              <a:t>Behavioral baseline by customer</a:t>
            </a:r>
          </a:p>
          <a:p>
            <a:pPr>
              <a:defRPr sz="2100">
                <a:latin typeface="Arial"/>
              </a:defRPr>
            </a:pPr>
            <a:r>
              <a:t>60% root-cause rules + 40% anomaly score</a:t>
            </a:r>
          </a:p>
          <a:p>
            <a:pPr>
              <a:defRPr sz="2100">
                <a:latin typeface="Arial"/>
              </a:defRPr>
            </a:pPr>
            <a:r>
              <a:t>Human-readable reason codes and recommended actions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Arial"/>
              </a:rPr>
              <a:t>Key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5156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2606D"/>
                </a:solidFill>
                <a:latin typeface="Arial"/>
              </a:rPr>
              <a:t>1,418,030 transactions scored; 35,451 High/Critical.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3"/>
                </a:solidFill>
                <a:latin typeface="Arial"/>
              </a:rPr>
              <a:t>Root-Cause Review Queue</a:t>
            </a:r>
          </a:p>
        </p:txBody>
      </p:sp>
      <p:pic>
        <p:nvPicPr>
          <p:cNvPr id="3" name="Picture 2" descr="root_cause_high_cri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105156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3"/>
                </a:solidFill>
                <a:latin typeface="Arial"/>
              </a:rPr>
              <a:t>Temporal Stability</a:t>
            </a:r>
          </a:p>
        </p:txBody>
      </p:sp>
      <p:pic>
        <p:nvPicPr>
          <p:cNvPr id="3" name="Picture 2" descr="monthly_stability_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105156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3"/>
                </a:solidFill>
                <a:latin typeface="Arial"/>
              </a:rPr>
              <a:t>SHAP Explainability</a:t>
            </a:r>
          </a:p>
        </p:txBody>
      </p:sp>
      <p:pic>
        <p:nvPicPr>
          <p:cNvPr id="3" name="Picture 2" descr="shap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10515600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