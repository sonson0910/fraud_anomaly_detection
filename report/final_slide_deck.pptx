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Fraud &amp;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Cause-first framework using real data, no synthetic labels.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Cause-First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Three root-cause branches before modeling.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Account takeover / identity compromise</a:t>
            </a:r>
          </a:p>
          <a:p>
            <a:pPr>
              <a:defRPr sz="2100">
                <a:latin typeface="Arial"/>
              </a:defRPr>
            </a:pPr>
            <a:r>
              <a:t>Unauthorized transfer / capital outflow</a:t>
            </a:r>
          </a:p>
          <a:p>
            <a:pPr>
              <a:defRPr sz="2100">
                <a:latin typeface="Arial"/>
              </a:defRPr>
            </a:pPr>
            <a:r>
              <a:t>AML network / mule-account pattern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4 phases, 11 steps: foundation -&gt; EDA/labels -&gt; ML/matrix -&gt; dashboard/xAI.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Phase 1: clean data, four baseline groups, Customer 360 rolling 30/60/90 days</a:t>
            </a:r>
          </a:p>
          <a:p>
            <a:pPr>
              <a:defRPr sz="2100">
                <a:latin typeface="Arial"/>
              </a:defRPr>
            </a:pPr>
            <a:r>
              <a:t>Phase 2: strategic EDA, IQR thresholding, dynamic root-cause rules, weak labels</a:t>
            </a:r>
          </a:p>
          <a:p>
            <a:pPr>
              <a:defRPr sz="2100">
                <a:latin typeface="Arial"/>
              </a:defRPr>
            </a:pPr>
            <a:r>
              <a:t>Phase 3: RandomForest prevention model and Rule + ML action matrix</a:t>
            </a:r>
          </a:p>
          <a:p>
            <a:pPr>
              <a:defRPr sz="2100">
                <a:latin typeface="Arial"/>
              </a:defRPr>
            </a:pPr>
            <a:r>
              <a:t>Phase 4: dashboard, protected amount, SHAP xAI and natural-language reason codes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Data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EDA is now driven by risk lift, heatmaps, and interaction charts.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Root-cause x hybrid-decision heatmap</a:t>
            </a:r>
          </a:p>
          <a:p>
            <a:pPr>
              <a:defRPr sz="2100">
                <a:latin typeface="Arial"/>
              </a:defRPr>
            </a:pPr>
            <a:r>
              <a:t>IQR breach lift versus normal baseline</a:t>
            </a:r>
          </a:p>
          <a:p>
            <a:pPr>
              <a:defRPr sz="2100">
                <a:latin typeface="Arial"/>
              </a:defRPr>
            </a:pPr>
            <a:r>
              <a:t>Time, network and Customer 360 risk maps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Key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1,418,030 transactions scored; 109,155 High/Critical.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Prevention coverage vs weak labels: 100.0%</a:t>
            </a:r>
          </a:p>
          <a:p>
            <a:pPr>
              <a:defRPr sz="2100">
                <a:latin typeface="Arial"/>
              </a:defRPr>
            </a:pPr>
            <a:r>
              <a:t>False-positive rate at high threshold: 0.00%</a:t>
            </a:r>
          </a:p>
          <a:p>
            <a:pPr>
              <a:defRPr sz="2100">
                <a:latin typeface="Arial"/>
              </a:defRPr>
            </a:pPr>
            <a:r>
              <a:t>Confusion matrix and protected amount are reported for business impact, not only model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Root-Cause x Hybrid Matrix</a:t>
            </a:r>
          </a:p>
        </p:txBody>
      </p:sp>
      <p:pic>
        <p:nvPicPr>
          <p:cNvPr id="3" name="Picture 2" descr="root_cause_hybri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IQR Breach Lift</a:t>
            </a:r>
          </a:p>
        </p:txBody>
      </p:sp>
      <p:pic>
        <p:nvPicPr>
          <p:cNvPr id="3" name="Picture 2" descr="iqr_breach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Time Risk Heatmap</a:t>
            </a:r>
          </a:p>
        </p:txBody>
      </p:sp>
      <p:pic>
        <p:nvPicPr>
          <p:cNvPr id="3" name="Picture 2" descr="time_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Network Exposure</a:t>
            </a:r>
          </a:p>
        </p:txBody>
      </p:sp>
      <p:pic>
        <p:nvPicPr>
          <p:cNvPr id="3" name="Picture 2" descr="network_exposure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Customer 360 Risk Map</a:t>
            </a:r>
          </a:p>
        </p:txBody>
      </p:sp>
      <p:pic>
        <p:nvPicPr>
          <p:cNvPr id="3" name="Picture 2" descr="customer360_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Customer 360 Rolling Baseline</a:t>
            </a:r>
          </a:p>
        </p:txBody>
      </p:sp>
      <p:pic>
        <p:nvPicPr>
          <p:cNvPr id="3" name="Picture 2" descr="rolling_wind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Hybrid Decision Matrix</a:t>
            </a:r>
          </a:p>
        </p:txBody>
      </p:sp>
      <p:pic>
        <p:nvPicPr>
          <p:cNvPr id="3" name="Picture 2" descr="hybrid_deci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Temporal Stability</a:t>
            </a:r>
          </a:p>
        </p:txBody>
      </p:sp>
      <p:pic>
        <p:nvPicPr>
          <p:cNvPr id="3" name="Picture 2" descr="monthly_stability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SHAP Explainability</a:t>
            </a:r>
          </a:p>
        </p:txBody>
      </p:sp>
      <p:pic>
        <p:nvPicPr>
          <p:cNvPr id="3" name="Picture 2" descr="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