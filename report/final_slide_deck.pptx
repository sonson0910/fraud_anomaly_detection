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Arial"/>
              </a:rPr>
              <a:t>Fraud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2606D"/>
                </a:solidFill>
                <a:latin typeface="Arial"/>
              </a:rPr>
              <a:t>Cause-first framework using real data, no synthetic labels.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Arial"/>
              </a:rPr>
              <a:t>Cause-First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2606D"/>
                </a:solidFill>
                <a:latin typeface="Arial"/>
              </a:rPr>
              <a:t>Three root-cause branches before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latin typeface="Arial"/>
              </a:defRPr>
            </a:pPr>
            <a:r>
              <a:t>Account takeover / identity compromise</a:t>
            </a:r>
          </a:p>
          <a:p>
            <a:pPr>
              <a:defRPr sz="2100">
                <a:latin typeface="Arial"/>
              </a:defRPr>
            </a:pPr>
            <a:r>
              <a:t>Unauthorized transfer / capital outflow</a:t>
            </a:r>
          </a:p>
          <a:p>
            <a:pPr>
              <a:defRPr sz="2100">
                <a:latin typeface="Arial"/>
              </a:defRPr>
            </a:pPr>
            <a:r>
              <a:t>AML network / mule-account pattern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Arial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2606D"/>
                </a:solidFill>
                <a:latin typeface="Arial"/>
              </a:rPr>
              <a:t>Data -&gt; baseline -&gt; rules -&gt; weak labels -&gt; supervised prevention model -&gt; SHAP/xAI.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latin typeface="Arial"/>
              </a:defRPr>
            </a:pPr>
            <a:r>
              <a:t>Customer 360 baseline by Transactional, Financial, Environmental and Behavioral groups</a:t>
            </a:r>
          </a:p>
          <a:p>
            <a:pPr>
              <a:defRPr sz="2100">
                <a:latin typeface="Arial"/>
              </a:defRPr>
            </a:pPr>
            <a:r>
              <a:t>Rolling 30/60/90-day features plus IQR thresholds</a:t>
            </a:r>
          </a:p>
          <a:p>
            <a:pPr>
              <a:defRPr sz="2100">
                <a:latin typeface="Arial"/>
              </a:defRPr>
            </a:pPr>
            <a:r>
              <a:t>Rule-derived weak labels train the supervised prevention model</a:t>
            </a:r>
          </a:p>
          <a:p>
            <a:pPr>
              <a:defRPr sz="2100">
                <a:latin typeface="Arial"/>
              </a:defRPr>
            </a:pPr>
            <a:r>
              <a:t>Hybrid matrix creates human-readable recommended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Arial"/>
              </a:rP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2606D"/>
                </a:solidFill>
                <a:latin typeface="Arial"/>
              </a:rPr>
              <a:t>1,418,030 transactions scored; 402,266 High/Critical.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latin typeface="Arial"/>
              </a:defRPr>
            </a:pPr>
            <a:r>
              <a:t>Prevention coverage vs weak labels: 100.0%</a:t>
            </a:r>
          </a:p>
          <a:p>
            <a:pPr>
              <a:defRPr sz="2100">
                <a:latin typeface="Arial"/>
              </a:defRPr>
            </a:pPr>
            <a:r>
              <a:t>False-positive rate at high threshold: 0.00%</a:t>
            </a:r>
          </a:p>
          <a:p>
            <a:pPr>
              <a:defRPr sz="2100">
                <a:latin typeface="Arial"/>
              </a:defRPr>
            </a:pPr>
            <a:r>
              <a:t>Confusion matrix and protected amount are reported for business impact, not only model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Arial"/>
              </a:rPr>
              <a:t>Root-Cause Review Queue</a:t>
            </a:r>
          </a:p>
        </p:txBody>
      </p:sp>
      <p:pic>
        <p:nvPicPr>
          <p:cNvPr id="3" name="Picture 2" descr="root_cause_high_cri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Arial"/>
              </a:rPr>
              <a:t>Customer 360 Rolling Baseline</a:t>
            </a:r>
          </a:p>
        </p:txBody>
      </p:sp>
      <p:pic>
        <p:nvPicPr>
          <p:cNvPr id="3" name="Picture 2" descr="rolling_window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Arial"/>
              </a:rPr>
              <a:t>Hybrid Decision Matrix</a:t>
            </a:r>
          </a:p>
        </p:txBody>
      </p:sp>
      <p:pic>
        <p:nvPicPr>
          <p:cNvPr id="3" name="Picture 2" descr="hybrid_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Arial"/>
              </a:rPr>
              <a:t>Temporal Stability</a:t>
            </a:r>
          </a:p>
        </p:txBody>
      </p:sp>
      <p:pic>
        <p:nvPicPr>
          <p:cNvPr id="3" name="Picture 2" descr="monthly_stability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3"/>
                </a:solidFill>
                <a:latin typeface="Arial"/>
              </a:rPr>
              <a:t>SHAP Explainability</a:t>
            </a:r>
          </a:p>
        </p:txBody>
      </p:sp>
      <p:pic>
        <p:nvPicPr>
          <p:cNvPr id="3" name="Picture 2" descr="shap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